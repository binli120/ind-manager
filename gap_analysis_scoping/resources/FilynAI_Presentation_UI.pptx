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73" r:id="rId7"/>
    <p:sldId id="271" r:id="rId8"/>
    <p:sldId id="270" r:id="rId9"/>
    <p:sldId id="27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286"/>
  </p:normalViewPr>
  <p:slideViewPr>
    <p:cSldViewPr snapToGrid="0" snapToObjects="1">
      <p:cViewPr varScale="1">
        <p:scale>
          <a:sx n="120" d="100"/>
          <a:sy n="120" d="100"/>
        </p:scale>
        <p:origin x="194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nd-manager-v2.vercel.app/" TargetMode="External"/><Relationship Id="rId2" Type="http://schemas.openxmlformats.org/officeDocument/2006/relationships/hyperlink" Target="https://github.com/FILYN-Inc/IND-Manager-V2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filynai.atlassian.net/jira/software/projects/IM/boards/67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filynai.atlassian.net/jira/software/projects/IM/boards/67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22860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84E77"/>
                </a:solidFill>
              </a:defRPr>
            </a:pPr>
            <a:r>
              <a:t>FilynAI</a:t>
            </a:r>
          </a:p>
          <a:p>
            <a:pPr>
              <a:defRPr sz="2000">
                <a:solidFill>
                  <a:srgbClr val="64748B"/>
                </a:solidFill>
              </a:defRPr>
            </a:pPr>
            <a:r>
              <a:t>AI-powered IND &amp; Regulatory Intelligence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93380" y="384679"/>
            <a:ext cx="1709250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rPr lang="en-US" dirty="0"/>
              <a:t>Agender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B18271-537B-9B31-EA1B-89370812BC7D}"/>
              </a:ext>
            </a:extLst>
          </p:cNvPr>
          <p:cNvSpPr txBox="1"/>
          <p:nvPr/>
        </p:nvSpPr>
        <p:spPr>
          <a:xfrm>
            <a:off x="893380" y="1618593"/>
            <a:ext cx="372050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Technology Stack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Architecture overview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Engineering walk through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Works walk through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Q/A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325832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E77"/>
                </a:solidFill>
              </a:defRPr>
            </a:pPr>
            <a:r>
              <a:rPr lang="en-US" sz="2800" dirty="0"/>
              <a:t>Technology Stack -UI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7255" y="1536174"/>
            <a:ext cx="8212056" cy="37856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lang="en-US" sz="2000" dirty="0"/>
              <a:t>React/</a:t>
            </a:r>
            <a:r>
              <a:rPr lang="en-US" sz="2000" dirty="0" err="1"/>
              <a:t>Next.js</a:t>
            </a:r>
            <a:r>
              <a:rPr lang="en-US" sz="2000" dirty="0"/>
              <a:t>, </a:t>
            </a:r>
            <a:r>
              <a:rPr lang="en-US" sz="2000" dirty="0" err="1"/>
              <a:t>Vercel</a:t>
            </a:r>
            <a:r>
              <a:rPr lang="en-US" sz="2000" dirty="0"/>
              <a:t>, Redux</a:t>
            </a:r>
            <a:endParaRPr sz="2000" dirty="0"/>
          </a:p>
          <a:p>
            <a:pPr marL="342900" indent="-342900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lang="en-US" sz="2000" dirty="0" err="1"/>
              <a:t>Supabase</a:t>
            </a:r>
            <a:r>
              <a:rPr lang="en-US" sz="2000" dirty="0"/>
              <a:t> </a:t>
            </a:r>
            <a:r>
              <a:rPr lang="en-US" sz="2000" dirty="0" err="1"/>
              <a:t>PostgresSQL</a:t>
            </a:r>
            <a:endParaRPr sz="2000" dirty="0"/>
          </a:p>
          <a:p>
            <a:pPr marL="342900" indent="-342900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lang="en-US" sz="2000" dirty="0"/>
              <a:t>node v25.1.0</a:t>
            </a:r>
          </a:p>
          <a:p>
            <a:pPr marL="342900" indent="-342900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lang="en-US" sz="2000" dirty="0" err="1"/>
              <a:t>pnpm</a:t>
            </a:r>
            <a:r>
              <a:rPr lang="en-US" sz="2000" dirty="0"/>
              <a:t>, </a:t>
            </a:r>
            <a:r>
              <a:rPr lang="en-US" sz="2000" dirty="0" err="1"/>
              <a:t>npm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lang="en-US" sz="2000" dirty="0"/>
              <a:t>Storybook, Jest</a:t>
            </a:r>
          </a:p>
          <a:p>
            <a:pPr marL="342900" indent="-342900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lang="en-US" sz="2000" dirty="0"/>
              <a:t>V0.dev + </a:t>
            </a:r>
            <a:r>
              <a:rPr lang="en-US" sz="2000" dirty="0" err="1"/>
              <a:t>figama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lang="en-US" sz="2000" dirty="0" err="1"/>
              <a:t>Tiptap</a:t>
            </a:r>
            <a:r>
              <a:rPr lang="en-US" sz="2000" dirty="0"/>
              <a:t> commercial editor license</a:t>
            </a:r>
          </a:p>
          <a:p>
            <a:pPr marL="342900" indent="-342900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lang="en-US" sz="2000" dirty="0"/>
              <a:t>Repo: </a:t>
            </a:r>
            <a:r>
              <a:rPr lang="en-US" sz="2000" dirty="0">
                <a:hlinkClick r:id="rId2"/>
              </a:rPr>
              <a:t>Ind-manager.v2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lang="en-US" sz="2000" dirty="0"/>
              <a:t>Branch </a:t>
            </a:r>
            <a:r>
              <a:rPr lang="en-US" sz="2000" i="1" dirty="0"/>
              <a:t>dev</a:t>
            </a:r>
            <a:r>
              <a:rPr lang="en-US" sz="2000" dirty="0"/>
              <a:t> is default branch, branch </a:t>
            </a:r>
            <a:r>
              <a:rPr lang="en-US" sz="2000" i="1" dirty="0"/>
              <a:t>main </a:t>
            </a:r>
            <a:r>
              <a:rPr lang="en-US" sz="2000" dirty="0"/>
              <a:t>is the build branch</a:t>
            </a:r>
          </a:p>
          <a:p>
            <a:pPr marL="342900" indent="-342900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lang="en-US" sz="2000" dirty="0"/>
              <a:t>New PR merge or manual merge to  main branch will trigger </a:t>
            </a:r>
            <a:r>
              <a:rPr lang="en-US" sz="2000" dirty="0" err="1"/>
              <a:t>vercel</a:t>
            </a:r>
            <a:r>
              <a:rPr lang="en-US" sz="2000" dirty="0"/>
              <a:t> deploy</a:t>
            </a:r>
          </a:p>
          <a:p>
            <a:pPr marL="342900" indent="-342900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lang="en-US" sz="2000" dirty="0"/>
              <a:t>Dev deploy: </a:t>
            </a:r>
            <a:r>
              <a:rPr lang="en-US" sz="2000" dirty="0">
                <a:hlinkClick r:id="rId3"/>
              </a:rPr>
              <a:t>https://ind-manager-v2.vercel.app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endParaRPr lang="en-U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2ED2DA-E35E-21DF-271E-742944FA292E}"/>
              </a:ext>
            </a:extLst>
          </p:cNvPr>
          <p:cNvSpPr/>
          <p:nvPr/>
        </p:nvSpPr>
        <p:spPr>
          <a:xfrm>
            <a:off x="1077310" y="5402317"/>
            <a:ext cx="6989379" cy="786195"/>
          </a:xfrm>
          <a:prstGeom prst="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npm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install;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pnpm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install</a:t>
            </a:r>
          </a:p>
          <a:p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npm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run dev;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pnpm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run dev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458997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E77"/>
                </a:solidFill>
              </a:defRPr>
            </a:pPr>
            <a:r>
              <a:rPr lang="en-US" dirty="0"/>
              <a:t>Feature development Process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630679" cy="25545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lang="en-US" sz="2000" dirty="0"/>
              <a:t>Create a </a:t>
            </a:r>
            <a:r>
              <a:rPr lang="en-US" sz="2000" dirty="0" err="1"/>
              <a:t>jira</a:t>
            </a:r>
            <a:r>
              <a:rPr lang="en-US" sz="2000" dirty="0"/>
              <a:t> ticket in </a:t>
            </a:r>
            <a:r>
              <a:rPr lang="en-US" sz="2000" dirty="0" err="1"/>
              <a:t>IND_Manager</a:t>
            </a:r>
            <a:r>
              <a:rPr lang="en-US" sz="2000" dirty="0"/>
              <a:t> board </a:t>
            </a:r>
            <a:r>
              <a:rPr lang="en-US" sz="2000" dirty="0">
                <a:hlinkClick r:id="rId2"/>
              </a:rPr>
              <a:t>Jira IND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lang="en-US" sz="2000" dirty="0"/>
              <a:t>Create a feature branch off the dev.  Branch name is Jira number 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lang="en-US" sz="2000" dirty="0"/>
              <a:t>Develop your code in the feature branch, commit/push your changes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lang="en-US" sz="2000" dirty="0"/>
              <a:t>Create a pull request, dev </a:t>
            </a:r>
            <a:r>
              <a:rPr lang="en-US" sz="2000" dirty="0">
                <a:sym typeface="Wingdings" pitchFamily="2" charset="2"/>
              </a:rPr>
              <a:t> feature branch.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lang="en-US" sz="2000" dirty="0"/>
              <a:t>Copy the screenshots to PR if your changes are related to UI. 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lang="en-US" sz="2000" dirty="0"/>
              <a:t>PR title start with Jira-numbers.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lang="en-US" sz="2000" dirty="0"/>
              <a:t>PR has to be at least reviewers, and correspond with comments. 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lang="en-US" sz="2000" dirty="0"/>
              <a:t>We can push dev </a:t>
            </a:r>
            <a:r>
              <a:rPr lang="en-US" sz="2000" dirty="0">
                <a:sym typeface="Wingdings" pitchFamily="2" charset="2"/>
              </a:rPr>
              <a:t> main under a schedule. </a:t>
            </a:r>
            <a:endParaRPr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A2008-3E85-19CB-B8E5-F40E0208B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6B4667-5659-FB00-21FF-0D03DAA3A7F0}"/>
              </a:ext>
            </a:extLst>
          </p:cNvPr>
          <p:cNvSpPr txBox="1"/>
          <p:nvPr/>
        </p:nvSpPr>
        <p:spPr>
          <a:xfrm>
            <a:off x="914400" y="731520"/>
            <a:ext cx="458997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E77"/>
                </a:solidFill>
              </a:defRPr>
            </a:pPr>
            <a:r>
              <a:rPr lang="en-US" dirty="0"/>
              <a:t>Feature development Process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F3842C-459C-B092-426C-2420A7D4DB88}"/>
              </a:ext>
            </a:extLst>
          </p:cNvPr>
          <p:cNvSpPr txBox="1"/>
          <p:nvPr/>
        </p:nvSpPr>
        <p:spPr>
          <a:xfrm>
            <a:off x="914400" y="1828800"/>
            <a:ext cx="7630679" cy="25545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lang="en-US" sz="2000" dirty="0"/>
              <a:t>Create a </a:t>
            </a:r>
            <a:r>
              <a:rPr lang="en-US" sz="2000" dirty="0" err="1"/>
              <a:t>jira</a:t>
            </a:r>
            <a:r>
              <a:rPr lang="en-US" sz="2000" dirty="0"/>
              <a:t> ticket in </a:t>
            </a:r>
            <a:r>
              <a:rPr lang="en-US" sz="2000" dirty="0" err="1"/>
              <a:t>IND_Manager</a:t>
            </a:r>
            <a:r>
              <a:rPr lang="en-US" sz="2000" dirty="0"/>
              <a:t> board </a:t>
            </a:r>
            <a:r>
              <a:rPr lang="en-US" sz="2000" dirty="0">
                <a:hlinkClick r:id="rId2"/>
              </a:rPr>
              <a:t>Jira IND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lang="en-US" sz="2000" dirty="0"/>
              <a:t>Create a feature branch off the dev.  Branch name is Jira number 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lang="en-US" sz="2000" dirty="0"/>
              <a:t>Develop your code in the feature branch, commit/push your changes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lang="en-US" sz="2000" dirty="0"/>
              <a:t>Create a pull request, dev </a:t>
            </a:r>
            <a:r>
              <a:rPr lang="en-US" sz="2000" dirty="0">
                <a:sym typeface="Wingdings" pitchFamily="2" charset="2"/>
              </a:rPr>
              <a:t> feature branch.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lang="en-US" sz="2000" dirty="0"/>
              <a:t>Copy the screenshots to PR if your changes are related to UI. 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lang="en-US" sz="2000" dirty="0"/>
              <a:t>PR title start with Jira-numbers such as ”IM-27 xxx”.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lang="en-US" sz="2000" dirty="0"/>
              <a:t>PR has to be at least reviewers, and correspond with comments. 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lang="en-US" sz="2000" dirty="0"/>
              <a:t>We can schedule to push dev </a:t>
            </a:r>
            <a:r>
              <a:rPr lang="en-US" sz="2000" dirty="0">
                <a:sym typeface="Wingdings" pitchFamily="2" charset="2"/>
              </a:rPr>
              <a:t> main. 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2609736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4556B-C5C1-F1BD-AE74-FBB8239E7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5EDDF1-4F38-CA53-F130-4B2F3684452D}"/>
              </a:ext>
            </a:extLst>
          </p:cNvPr>
          <p:cNvSpPr txBox="1"/>
          <p:nvPr/>
        </p:nvSpPr>
        <p:spPr>
          <a:xfrm>
            <a:off x="914400" y="731520"/>
            <a:ext cx="461273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E77"/>
                </a:solidFill>
              </a:defRPr>
            </a:pPr>
            <a:r>
              <a:rPr lang="en-US" dirty="0"/>
              <a:t>Feature pull requests Process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496125-CB83-EEE0-C44F-07240039CB81}"/>
              </a:ext>
            </a:extLst>
          </p:cNvPr>
          <p:cNvSpPr txBox="1"/>
          <p:nvPr/>
        </p:nvSpPr>
        <p:spPr>
          <a:xfrm>
            <a:off x="914400" y="1828799"/>
            <a:ext cx="597549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lang="en-US" sz="2000" dirty="0"/>
              <a:t>Go to </a:t>
            </a:r>
            <a:r>
              <a:rPr lang="en-US" sz="2000" dirty="0" err="1"/>
              <a:t>github</a:t>
            </a:r>
            <a:r>
              <a:rPr lang="en-US" sz="2000" dirty="0"/>
              <a:t>, find the PR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lang="en-US" sz="2000" dirty="0"/>
              <a:t>Go to changes, find differences.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lang="en-US" sz="2000" dirty="0"/>
              <a:t>Something we cannot approve PR, 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lang="en-US" sz="2000" dirty="0"/>
              <a:t>Username/password in the code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lang="en-US" sz="2000" dirty="0" err="1"/>
              <a:t>API_key</a:t>
            </a:r>
            <a:r>
              <a:rPr lang="en-US" sz="2000" dirty="0"/>
              <a:t>, and cloud confidential data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lang="en-US" sz="2000" dirty="0"/>
              <a:t>All comments code need to be removed.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0F172A"/>
                </a:solidFill>
              </a:defRPr>
            </a:pPr>
            <a:r>
              <a:rPr lang="en-US" sz="2000" dirty="0"/>
              <a:t>Checkout the branch, run locally, reference to </a:t>
            </a:r>
            <a:r>
              <a:rPr lang="en-US" sz="2000" dirty="0" err="1"/>
              <a:t>jira</a:t>
            </a:r>
            <a:r>
              <a:rPr lang="en-US" sz="2000" dirty="0"/>
              <a:t> stories, make sure the PR do what need to be done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77448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0FADF7-BD34-6436-0B32-62201E8C3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CD6311-0A27-29EB-4AD6-DE404BEB0AED}"/>
              </a:ext>
            </a:extLst>
          </p:cNvPr>
          <p:cNvSpPr txBox="1"/>
          <p:nvPr/>
        </p:nvSpPr>
        <p:spPr>
          <a:xfrm>
            <a:off x="6950931" y="2023110"/>
            <a:ext cx="1852218" cy="28460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84E77"/>
                </a:solidFill>
              </a:defRPr>
            </a:pPr>
            <a:r>
              <a:rPr lang="en-US" sz="3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Supabase</a:t>
            </a: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361045" y="245695"/>
            <a:ext cx="1715478" cy="643756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6563" y="664308"/>
            <a:ext cx="6061974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A7F798-BDEF-00B9-705F-B83A9596D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28" y="1089261"/>
            <a:ext cx="5706228" cy="4750434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747951" y="3411145"/>
            <a:ext cx="1719072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692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F5297-BF9A-017C-8A3D-43926153B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FF6CB0-9B9B-638C-C78F-7E0B44EF55F4}"/>
              </a:ext>
            </a:extLst>
          </p:cNvPr>
          <p:cNvSpPr txBox="1"/>
          <p:nvPr/>
        </p:nvSpPr>
        <p:spPr>
          <a:xfrm>
            <a:off x="946298" y="465706"/>
            <a:ext cx="319484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E77"/>
                </a:solidFill>
              </a:defRPr>
            </a:pPr>
            <a:r>
              <a:rPr lang="en-US" dirty="0" err="1"/>
              <a:t>Supabase</a:t>
            </a:r>
            <a:r>
              <a:rPr lang="en-US" dirty="0"/>
              <a:t> - continue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126A8B-0752-7847-D3E9-7F7227528A25}"/>
              </a:ext>
            </a:extLst>
          </p:cNvPr>
          <p:cNvSpPr txBox="1"/>
          <p:nvPr/>
        </p:nvSpPr>
        <p:spPr>
          <a:xfrm>
            <a:off x="818706" y="988926"/>
            <a:ext cx="763417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/>
              <a:t>Supabase</a:t>
            </a:r>
            <a:r>
              <a:rPr lang="en-US" sz="2000" b="1" dirty="0"/>
              <a:t> is an open-source Backend-as-a-Service (BaaS) built on top of PostgreSQL.</a:t>
            </a:r>
            <a:endParaRPr lang="en-US" sz="2000" dirty="0"/>
          </a:p>
          <a:p>
            <a:br>
              <a:rPr lang="en-US" sz="2000" dirty="0"/>
            </a:br>
            <a:r>
              <a:rPr lang="en-US" sz="2000" dirty="0"/>
              <a:t>At its core:</a:t>
            </a:r>
          </a:p>
          <a:p>
            <a:r>
              <a:rPr lang="en-US" sz="2000" dirty="0" err="1"/>
              <a:t>Supabase</a:t>
            </a:r>
            <a:r>
              <a:rPr lang="en-US" sz="2000" dirty="0"/>
              <a:t> </a:t>
            </a:r>
            <a:r>
              <a:rPr lang="en-US" sz="2000" b="1" dirty="0"/>
              <a:t>is PostgreSQL</a:t>
            </a:r>
            <a:endParaRPr lang="en-US" sz="2000" dirty="0"/>
          </a:p>
          <a:p>
            <a:r>
              <a:rPr lang="en-US" sz="2000" dirty="0"/>
              <a:t>With </a:t>
            </a:r>
            <a:r>
              <a:rPr lang="en-US" sz="2000" b="1" dirty="0"/>
              <a:t>opinionated, production-ready services</a:t>
            </a:r>
            <a:r>
              <a:rPr lang="en-US" sz="2000" dirty="0"/>
              <a:t> layered on top</a:t>
            </a:r>
          </a:p>
          <a:p>
            <a:endParaRPr lang="en-US" sz="2000" dirty="0"/>
          </a:p>
          <a:p>
            <a:r>
              <a:rPr lang="en-US" sz="2000" b="1" dirty="0" err="1"/>
              <a:t>Supabase</a:t>
            </a:r>
            <a:r>
              <a:rPr lang="en-US" sz="2000" b="1" dirty="0"/>
              <a:t> gives you:</a:t>
            </a:r>
          </a:p>
          <a:p>
            <a:r>
              <a:rPr lang="en-US" sz="2000" dirty="0"/>
              <a:t>🗄️ </a:t>
            </a:r>
            <a:r>
              <a:rPr lang="en-US" sz="2000" b="1" dirty="0"/>
              <a:t>Managed PostgreSQL</a:t>
            </a:r>
            <a:r>
              <a:rPr lang="en-US" sz="2000" dirty="0"/>
              <a:t> (you own the schema, SQL, extensions)</a:t>
            </a:r>
          </a:p>
          <a:p>
            <a:r>
              <a:rPr lang="en-US" sz="2000" dirty="0"/>
              <a:t>🔐 </a:t>
            </a:r>
            <a:r>
              <a:rPr lang="en-US" sz="2000" b="1" dirty="0"/>
              <a:t>Authentication &amp; Authorization</a:t>
            </a:r>
            <a:r>
              <a:rPr lang="en-US" sz="2000" dirty="0"/>
              <a:t> (JWT-based, row-level security aware)</a:t>
            </a:r>
          </a:p>
          <a:p>
            <a:r>
              <a:rPr lang="en-US" sz="2000" dirty="0"/>
              <a:t>🌐 </a:t>
            </a:r>
            <a:r>
              <a:rPr lang="en-US" sz="2000" b="1" dirty="0"/>
              <a:t>Auto-generated REST &amp; </a:t>
            </a:r>
            <a:r>
              <a:rPr lang="en-US" sz="2000" b="1" dirty="0" err="1"/>
              <a:t>GraphQL</a:t>
            </a:r>
            <a:r>
              <a:rPr lang="en-US" sz="2000" b="1" dirty="0"/>
              <a:t> APIs</a:t>
            </a:r>
            <a:endParaRPr lang="en-US" sz="2000" dirty="0"/>
          </a:p>
          <a:p>
            <a:r>
              <a:rPr lang="en-US" sz="2000" dirty="0"/>
              <a:t>🪣 </a:t>
            </a:r>
            <a:r>
              <a:rPr lang="en-US" sz="2000" b="1" dirty="0"/>
              <a:t>File storage</a:t>
            </a:r>
            <a:r>
              <a:rPr lang="en-US" sz="2000" dirty="0"/>
              <a:t> (backed by object storage)</a:t>
            </a:r>
          </a:p>
          <a:p>
            <a:r>
              <a:rPr lang="en-US" sz="2000" dirty="0"/>
              <a:t>⚡ </a:t>
            </a:r>
            <a:r>
              <a:rPr lang="en-US" sz="2000" b="1" dirty="0"/>
              <a:t>Realtime subscriptions</a:t>
            </a:r>
            <a:r>
              <a:rPr lang="en-US" sz="2000" dirty="0"/>
              <a:t> (via Postgres WAL)</a:t>
            </a:r>
          </a:p>
          <a:p>
            <a:r>
              <a:rPr lang="en-US" sz="2000" dirty="0"/>
              <a:t>🧩 </a:t>
            </a:r>
            <a:r>
              <a:rPr lang="en-US" sz="2000" b="1" dirty="0"/>
              <a:t>Edge Functions</a:t>
            </a:r>
            <a:r>
              <a:rPr lang="en-US" sz="2000" dirty="0"/>
              <a:t> (serverless logic close to users)</a:t>
            </a:r>
          </a:p>
          <a:p>
            <a:r>
              <a:rPr lang="en-US" sz="2000" dirty="0"/>
              <a:t>📊 </a:t>
            </a:r>
            <a:r>
              <a:rPr lang="en-US" sz="2000" b="1" dirty="0"/>
              <a:t>Observability &amp; migrations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41393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57B999-0445-6BA8-8510-70C936609F4F}"/>
              </a:ext>
            </a:extLst>
          </p:cNvPr>
          <p:cNvSpPr txBox="1"/>
          <p:nvPr/>
        </p:nvSpPr>
        <p:spPr>
          <a:xfrm>
            <a:off x="2381694" y="1497064"/>
            <a:ext cx="397416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E77"/>
                </a:solidFill>
              </a:defRPr>
            </a:pPr>
            <a:r>
              <a:rPr lang="en-US" dirty="0" err="1"/>
              <a:t>Supabase</a:t>
            </a:r>
            <a:r>
              <a:rPr lang="en-US" dirty="0"/>
              <a:t> – Walk through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D8BBD9-F1D0-F016-4402-55B4FF817F78}"/>
              </a:ext>
            </a:extLst>
          </p:cNvPr>
          <p:cNvSpPr txBox="1"/>
          <p:nvPr/>
        </p:nvSpPr>
        <p:spPr>
          <a:xfrm>
            <a:off x="2381694" y="2401030"/>
            <a:ext cx="34669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E77"/>
                </a:solidFill>
              </a:defRPr>
            </a:pPr>
            <a:r>
              <a:rPr lang="en-US" dirty="0" err="1"/>
              <a:t>Vercel</a:t>
            </a:r>
            <a:r>
              <a:rPr lang="en-US" dirty="0"/>
              <a:t> – Walk through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2F24D5-46BD-F602-66F6-C1B4B25DE999}"/>
              </a:ext>
            </a:extLst>
          </p:cNvPr>
          <p:cNvSpPr txBox="1"/>
          <p:nvPr/>
        </p:nvSpPr>
        <p:spPr>
          <a:xfrm>
            <a:off x="2272402" y="3934608"/>
            <a:ext cx="41289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E77"/>
                </a:solidFill>
              </a:defRPr>
            </a:pPr>
            <a:r>
              <a:rPr lang="en-US" dirty="0"/>
              <a:t>Jira stories – Walk through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22547F-14C2-38D4-9E27-1B22CEAD54BB}"/>
              </a:ext>
            </a:extLst>
          </p:cNvPr>
          <p:cNvSpPr txBox="1"/>
          <p:nvPr/>
        </p:nvSpPr>
        <p:spPr>
          <a:xfrm>
            <a:off x="2272402" y="3167819"/>
            <a:ext cx="424186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E77"/>
                </a:solidFill>
              </a:defRPr>
            </a:pPr>
            <a:r>
              <a:rPr lang="en-US" dirty="0"/>
              <a:t>Application – Walk through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09102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477</Words>
  <Application>Microsoft Macintosh PowerPoint</Application>
  <PresentationFormat>On-screen Show (4:3)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Bin Lee</cp:lastModifiedBy>
  <cp:revision>3</cp:revision>
  <dcterms:created xsi:type="dcterms:W3CDTF">2013-01-27T09:14:16Z</dcterms:created>
  <dcterms:modified xsi:type="dcterms:W3CDTF">2026-01-06T21:05:15Z</dcterms:modified>
  <cp:category/>
</cp:coreProperties>
</file>